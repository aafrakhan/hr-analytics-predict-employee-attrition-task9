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Percent Salary Hike</c:v>
                </c:pt>
                <c:pt idx="1">
                  <c:v>Daily Rate</c:v>
                </c:pt>
                <c:pt idx="2">
                  <c:v>Work-Life Balance</c:v>
                </c:pt>
                <c:pt idx="3">
                  <c:v>Department</c:v>
                </c:pt>
                <c:pt idx="4">
                  <c:v>Monthly Income</c:v>
                </c:pt>
                <c:pt idx="5">
                  <c:v>Num. Companies Worked</c:v>
                </c:pt>
                <c:pt idx="6">
                  <c:v>Stock Option Level</c:v>
                </c:pt>
                <c:pt idx="7">
                  <c:v>Age</c:v>
                </c:pt>
                <c:pt idx="8">
                  <c:v>OverTime</c:v>
                </c:pt>
                <c:pt idx="9">
                  <c:v>Total Working Years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2.7E-2</c:v>
                </c:pt>
                <c:pt idx="1">
                  <c:v>2.7E-2</c:v>
                </c:pt>
                <c:pt idx="2">
                  <c:v>3.1E-2</c:v>
                </c:pt>
                <c:pt idx="3">
                  <c:v>3.2000000000000001E-2</c:v>
                </c:pt>
                <c:pt idx="4">
                  <c:v>8.2000000000000003E-2</c:v>
                </c:pt>
                <c:pt idx="5">
                  <c:v>9.2999999999999999E-2</c:v>
                </c:pt>
                <c:pt idx="6">
                  <c:v>0.10199999999999999</c:v>
                </c:pt>
                <c:pt idx="7">
                  <c:v>0.107</c:v>
                </c:pt>
                <c:pt idx="8">
                  <c:v>0.16800000000000001</c:v>
                </c:pt>
                <c:pt idx="9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EC-4A20-A6ED-3FBA51E960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74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" y="274320"/>
            <a:ext cx="96012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Employee Attrition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Prevention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62940" y="2532529"/>
            <a:ext cx="9144000" cy="1061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9D9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HR Analytics Dataset 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9D9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Predictive Modeling &amp; HR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43434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26426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4480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1,470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6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Employees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43434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26426E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4480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6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Employees Left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43434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26426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4480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16.1%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6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43434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26426E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4480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76.5%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06840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6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Model 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4C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from Logistic Regression &amp; Decision Tree classifiers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2858"/>
            <a:ext cx="10424160" cy="1488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report analyzes 1,470 employee records to identify the strongest predictors of attrition and translate them into concrete retention actions. Two classification models were built and compared a Logistic Regression baseline and a Decision Tree and their outputs were used to rank the top drivers of resignation.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6974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28072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 Accuracy Report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31546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Accuracy, precision, recall &amp; F1 for both models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033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813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Confusion Matrices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41605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each model gets predictions right and wrong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818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Drivers of Attrition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51663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importance ranking from the Decision Tree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7150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7150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824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Prevention Suggestions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61722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Concrete HR actions mapped to each driver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 Accuracy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1923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models were trained on an 80/20 stratified train-test split (1,176 training / 294 test records).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510363"/>
              </p:ext>
            </p:extLst>
          </p:nvPr>
        </p:nvGraphicFramePr>
        <p:xfrm>
          <a:off x="548640" y="2377440"/>
          <a:ext cx="667512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Decision Tree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0.690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0.765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</a:rPr>
                        <a:t>Precision (Attrition)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0.307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0.351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</a:rPr>
                        <a:t>Recall (Attrition)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46"/>
                          </a:solidFill>
                        </a:rPr>
                        <a:t>0.745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0.553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</a:rPr>
                        <a:t>F1 Score (Attrition)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0.435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0.430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41023" y="1517725"/>
            <a:ext cx="4069080" cy="4206240"/>
          </a:xfrm>
          <a:prstGeom prst="roundRect">
            <a:avLst>
              <a:gd name="adj" fmla="val 1798"/>
            </a:avLst>
          </a:prstGeom>
          <a:solidFill>
            <a:srgbClr val="F5F8FC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Recommended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1812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18120" y="274320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Tree scores higher on overall accuracy, but Logistic Regression catches far more of the employees who actually leave (74.5% recall vs. 55.3%). Missing an at-risk employee is costlier than a false alarm, so LR is the better choice for flagging at-risk employees.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Confusion Matrices</a:t>
            </a:r>
            <a:endParaRPr lang="en-US" sz="2800" dirty="0"/>
          </a:p>
        </p:txBody>
      </p:sp>
      <p:pic>
        <p:nvPicPr>
          <p:cNvPr id="3" name="Image 0" descr="/home/claude/assets/confusion_matrix_logr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4846320" cy="4206240"/>
          </a:xfrm>
          <a:prstGeom prst="rect">
            <a:avLst/>
          </a:prstGeom>
        </p:spPr>
      </p:pic>
      <p:pic>
        <p:nvPicPr>
          <p:cNvPr id="4" name="Image 1" descr="/home/claude/assets/confusion_matrix_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234440"/>
            <a:ext cx="4846320" cy="4206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set: 294 employees (247 stayed, 47 left). Logistic Regression correctly flagged 35 of 47 leavers (missing 12); Decision Tree correctly flagged 26 of 47 (missing 21).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Drivers of Attrition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importance from the Decision Tree model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110642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Attrition Prevention Suggestions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536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Working Years : top driver (0.200)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Attrition is concentrated among employees earlier in their overall career. Build a structured 6–18 months onboarding and mentorship track, with regular manager check-ins during this higher-risk window.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1363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 Time : 2nd driver (0.168)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Employees working overtime attrit at roughly twice the rate of those who don't. Audit workload in the highest-attrition roles (Sales Representative, Laboratory Technician) and consider staffing adjustments or overtime caps.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7365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 : 3rd driver (0.107)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510235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Younger employees show higher attrition risk. Pair early-career hires with mentors and set clear 6–12 months growth milestones.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HR Analytics : Employee Attrition Prevention Report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Attrition Prevention Suggestions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6775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536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Stock Option Level — 4th driver (0.102)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Employees with low or no stock options leave more often. Consider extending option eligibility to more levels/tenures, or alternative retention bonuses.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1801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1363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Num. Companies Worked — 5th driver (0.093)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history of frequent job changes correlates with higher attrition risk. Flag this at hiring to schedule earlier, proactive retention conversations.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361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7365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Income — 6th driver (0.082)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5102352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Lower relative income correlates with attrition. Run a pay-band equity review, prioritizing roles and departments with above-average attrition.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02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Additional Observation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13079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Satisfaction level 1 (lowest) employees account for a disproportionate share of attrition relative to their group size. Consider a lightweight quarterly satisfaction pulse survey with an automatic manager-follow-up trigger for low scores.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562</Words>
  <Application>Microsoft Office PowerPoint</Application>
  <PresentationFormat>Widescreen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Aafra Khan</cp:lastModifiedBy>
  <cp:revision>2</cp:revision>
  <dcterms:created xsi:type="dcterms:W3CDTF">2026-07-17T11:29:31Z</dcterms:created>
  <dcterms:modified xsi:type="dcterms:W3CDTF">2026-07-17T11:41:12Z</dcterms:modified>
</cp:coreProperties>
</file>